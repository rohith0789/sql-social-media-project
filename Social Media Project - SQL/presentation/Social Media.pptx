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57" r:id="rId3"/>
    <p:sldId id="258" r:id="rId4"/>
    <p:sldId id="280" r:id="rId5"/>
    <p:sldId id="259" r:id="rId6"/>
    <p:sldId id="260" r:id="rId7"/>
    <p:sldId id="272" r:id="rId8"/>
    <p:sldId id="263" r:id="rId9"/>
    <p:sldId id="273" r:id="rId10"/>
    <p:sldId id="266" r:id="rId11"/>
    <p:sldId id="279" r:id="rId12"/>
    <p:sldId id="274" r:id="rId13"/>
    <p:sldId id="265" r:id="rId14"/>
    <p:sldId id="268" r:id="rId15"/>
    <p:sldId id="270" r:id="rId16"/>
    <p:sldId id="277" r:id="rId17"/>
    <p:sldId id="269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hode\Documents\user_activity.xm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Newton%20School\2.SQL\Project\Rough%20Boo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[user_activity.xml]Sheet2!PivotTable1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No.</a:t>
            </a:r>
            <a:r>
              <a:rPr lang="en-US" b="1" baseline="0"/>
              <a:t> of users by Activity Level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Sheet2!$A$4:$A$8</c:f>
              <c:strCache>
                <c:ptCount val="4"/>
                <c:pt idx="0">
                  <c:v>Low active</c:v>
                </c:pt>
                <c:pt idx="1">
                  <c:v>Inactive</c:v>
                </c:pt>
                <c:pt idx="2">
                  <c:v>high active</c:v>
                </c:pt>
                <c:pt idx="3">
                  <c:v>moderate active</c:v>
                </c:pt>
              </c:strCache>
            </c:strRef>
          </c:cat>
          <c:val>
            <c:numRef>
              <c:f>Sheet2!$B$4:$B$8</c:f>
              <c:numCache>
                <c:formatCode>General</c:formatCode>
                <c:ptCount val="4"/>
                <c:pt idx="0">
                  <c:v>10</c:v>
                </c:pt>
                <c:pt idx="1">
                  <c:v>13</c:v>
                </c:pt>
                <c:pt idx="2">
                  <c:v>13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3-493E-9FE2-0BED6700A3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96536464"/>
        <c:axId val="1796535024"/>
      </c:barChart>
      <c:catAx>
        <c:axId val="17965364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96535024"/>
        <c:crosses val="autoZero"/>
        <c:auto val="1"/>
        <c:lblAlgn val="ctr"/>
        <c:lblOffset val="100"/>
        <c:noMultiLvlLbl val="0"/>
      </c:catAx>
      <c:valAx>
        <c:axId val="17965350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6536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Hashtags Used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Sheet1!$V$288</c:f>
              <c:strCache>
                <c:ptCount val="1"/>
                <c:pt idx="0">
                  <c:v>Times used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Sheet1!$U$289:$U$309</c:f>
              <c:strCache>
                <c:ptCount val="21"/>
                <c:pt idx="0">
                  <c:v>smile</c:v>
                </c:pt>
                <c:pt idx="1">
                  <c:v>beach</c:v>
                </c:pt>
                <c:pt idx="2">
                  <c:v>party</c:v>
                </c:pt>
                <c:pt idx="3">
                  <c:v>fun</c:v>
                </c:pt>
                <c:pt idx="4">
                  <c:v>concert</c:v>
                </c:pt>
                <c:pt idx="5">
                  <c:v>food</c:v>
                </c:pt>
                <c:pt idx="6">
                  <c:v>lol</c:v>
                </c:pt>
                <c:pt idx="7">
                  <c:v>hair</c:v>
                </c:pt>
                <c:pt idx="8">
                  <c:v>happy</c:v>
                </c:pt>
                <c:pt idx="9">
                  <c:v>beauty</c:v>
                </c:pt>
                <c:pt idx="10">
                  <c:v>dreamy</c:v>
                </c:pt>
                <c:pt idx="11">
                  <c:v>drunk</c:v>
                </c:pt>
                <c:pt idx="12">
                  <c:v>fashion</c:v>
                </c:pt>
                <c:pt idx="13">
                  <c:v>sunset</c:v>
                </c:pt>
                <c:pt idx="14">
                  <c:v>landscape</c:v>
                </c:pt>
                <c:pt idx="15">
                  <c:v>style</c:v>
                </c:pt>
                <c:pt idx="16">
                  <c:v>sunrise</c:v>
                </c:pt>
                <c:pt idx="17">
                  <c:v>photography</c:v>
                </c:pt>
                <c:pt idx="18">
                  <c:v>stunning</c:v>
                </c:pt>
                <c:pt idx="19">
                  <c:v>delicious</c:v>
                </c:pt>
                <c:pt idx="20">
                  <c:v>foodie</c:v>
                </c:pt>
              </c:strCache>
            </c:strRef>
          </c:cat>
          <c:val>
            <c:numRef>
              <c:f>Sheet1!$V$289:$V$309</c:f>
              <c:numCache>
                <c:formatCode>General</c:formatCode>
                <c:ptCount val="21"/>
                <c:pt idx="0">
                  <c:v>59</c:v>
                </c:pt>
                <c:pt idx="1">
                  <c:v>42</c:v>
                </c:pt>
                <c:pt idx="2">
                  <c:v>39</c:v>
                </c:pt>
                <c:pt idx="3">
                  <c:v>38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23</c:v>
                </c:pt>
                <c:pt idx="8">
                  <c:v>22</c:v>
                </c:pt>
                <c:pt idx="9">
                  <c:v>20</c:v>
                </c:pt>
                <c:pt idx="10">
                  <c:v>20</c:v>
                </c:pt>
                <c:pt idx="11">
                  <c:v>19</c:v>
                </c:pt>
                <c:pt idx="12">
                  <c:v>19</c:v>
                </c:pt>
                <c:pt idx="13">
                  <c:v>19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16</c:v>
                </c:pt>
                <c:pt idx="18">
                  <c:v>16</c:v>
                </c:pt>
                <c:pt idx="19">
                  <c:v>15</c:v>
                </c:pt>
                <c:pt idx="2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D-4ED6-9F3D-EE2AA02774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03650623"/>
        <c:axId val="803663583"/>
      </c:barChart>
      <c:catAx>
        <c:axId val="8036506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663583"/>
        <c:crosses val="autoZero"/>
        <c:auto val="1"/>
        <c:lblAlgn val="ctr"/>
        <c:lblOffset val="100"/>
        <c:noMultiLvlLbl val="0"/>
      </c:catAx>
      <c:valAx>
        <c:axId val="8036635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03650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AB3A824-1A51-4B26-AD58-A6D8E14F6C04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56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5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7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6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77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8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39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78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8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2548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8963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573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4657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237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7945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857E33E-8B18-4087-B112-809917729534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26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3FFE419-2371-464F-8239-3959401C3561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8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1E68-3EB2-19A7-7E46-E2F6B68C0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19" y="1663423"/>
            <a:ext cx="7279340" cy="2268559"/>
          </a:xfrm>
        </p:spPr>
        <p:txBody>
          <a:bodyPr/>
          <a:lstStyle/>
          <a:p>
            <a:pPr algn="ctr"/>
            <a:r>
              <a:rPr lang="en-IN" b="1" dirty="0"/>
              <a:t>SQL: </a:t>
            </a:r>
            <a:r>
              <a:rPr lang="en-US" b="1" dirty="0"/>
              <a:t>Social Media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368AE-AF85-DF9F-7A2E-C07F91C83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8044" y="4752010"/>
            <a:ext cx="5357600" cy="1160213"/>
          </a:xfrm>
        </p:spPr>
        <p:txBody>
          <a:bodyPr/>
          <a:lstStyle/>
          <a:p>
            <a:pPr algn="ctr"/>
            <a:r>
              <a:rPr lang="en-IN" dirty="0"/>
              <a:t>Thode </a:t>
            </a:r>
            <a:r>
              <a:rPr lang="en-IN" dirty="0" err="1"/>
              <a:t>rohith</a:t>
            </a:r>
            <a:endParaRPr lang="en-IN" dirty="0"/>
          </a:p>
          <a:p>
            <a:pPr algn="ctr"/>
            <a:r>
              <a:rPr lang="en-IN" dirty="0"/>
              <a:t>10/12/2025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6373E-D3C8-31CF-DA65-AE493524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141" y="2114143"/>
            <a:ext cx="1411940" cy="13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4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BAE6-83D5-8FD5-DA2A-AF582021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&amp;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19C8-0CD3-DBEB-EA42-3E9E6B381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048000"/>
            <a:ext cx="8825659" cy="2971800"/>
          </a:xfrm>
        </p:spPr>
        <p:txBody>
          <a:bodyPr/>
          <a:lstStyle/>
          <a:p>
            <a:r>
              <a:rPr lang="en-IN" dirty="0"/>
              <a:t>I as a data analyst at Meta, am asked to collaborate with the marketing team to leverage </a:t>
            </a:r>
            <a:r>
              <a:rPr lang="en-US" dirty="0"/>
              <a:t>Instagram's user data to develop targeted marketing strategies that will increase user engagement, retention, and acquisition. </a:t>
            </a:r>
          </a:p>
          <a:p>
            <a:r>
              <a:rPr lang="en-US" dirty="0"/>
              <a:t>It will also provide insights and recommendations to address the following objectives.</a:t>
            </a:r>
          </a:p>
        </p:txBody>
      </p:sp>
    </p:spTree>
    <p:extLst>
      <p:ext uri="{BB962C8B-B14F-4D97-AF65-F5344CB8AC3E}">
        <p14:creationId xmlns:p14="http://schemas.microsoft.com/office/powerpoint/2010/main" val="262910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33F6-F3E3-54D0-95DB-50214B4A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Overview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8277F-6126-8A48-BDFD-1FF5BBE90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04565"/>
            <a:ext cx="8825659" cy="3115234"/>
          </a:xfrm>
        </p:spPr>
        <p:txBody>
          <a:bodyPr/>
          <a:lstStyle/>
          <a:p>
            <a:r>
              <a:rPr lang="en-IN" dirty="0"/>
              <a:t>There are 7 tables in the dataset –</a:t>
            </a:r>
            <a:br>
              <a:rPr lang="en-US" dirty="0"/>
            </a:br>
            <a:r>
              <a:rPr lang="en-US" dirty="0"/>
              <a:t>users, photos, comments, follows, likes, tags and </a:t>
            </a:r>
            <a:r>
              <a:rPr lang="en-US" dirty="0" err="1"/>
              <a:t>photo_tags</a:t>
            </a:r>
            <a:r>
              <a:rPr lang="en-US" dirty="0"/>
              <a:t>.</a:t>
            </a:r>
          </a:p>
          <a:p>
            <a:r>
              <a:rPr lang="en-US" dirty="0"/>
              <a:t>This dataset contains information about 100 users, 257 photos, 1000 comments and 21 hashtags.</a:t>
            </a:r>
          </a:p>
          <a:p>
            <a:r>
              <a:rPr lang="en-US" dirty="0"/>
              <a:t>Good quality data is very essential to analyze user behavior.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08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213B-D967-B0B8-6329-55A98597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Database Schema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E4030C-0D27-BB2F-FA14-0A4325FA7A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796" y="2603500"/>
            <a:ext cx="7988061" cy="352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2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8F49-4312-DF1A-5BC2-175C41A8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B4B8A-EA48-A341-8075-1A34B005C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056965"/>
            <a:ext cx="8825659" cy="2962834"/>
          </a:xfrm>
        </p:spPr>
        <p:txBody>
          <a:bodyPr/>
          <a:lstStyle/>
          <a:p>
            <a:r>
              <a:rPr lang="en-IN" dirty="0"/>
              <a:t>I have calculated key metrics like activity score and divided the user base into different segments based on their engagement through posts, likes and comments.</a:t>
            </a:r>
          </a:p>
          <a:p>
            <a:r>
              <a:rPr lang="en-US" dirty="0"/>
              <a:t>Used subqueries, CTEs and joins to calculate the activity score, average engagement rates, number of followers and following,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246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5ED6-916B-DB4A-9FBD-F746BEF7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Activity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35DB-40E2-57D6-AD29-9EC0F3E16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729" y="2532529"/>
            <a:ext cx="7796540" cy="1792941"/>
          </a:xfrm>
        </p:spPr>
        <p:txBody>
          <a:bodyPr>
            <a:normAutofit/>
          </a:bodyPr>
          <a:lstStyle/>
          <a:p>
            <a:r>
              <a:rPr lang="en-IN" dirty="0"/>
              <a:t>We have calculated activity score of each user based on the number of posts, likes of comments they have made.</a:t>
            </a:r>
          </a:p>
          <a:p>
            <a:r>
              <a:rPr lang="en-IN" dirty="0"/>
              <a:t>Based on the activity score, we have divided the users into 4 segments-Highly active, moderately active, low activity and inactive.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123BFA-7851-449C-7571-C64192F8D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491552"/>
              </p:ext>
            </p:extLst>
          </p:nvPr>
        </p:nvGraphicFramePr>
        <p:xfrm>
          <a:off x="3836894" y="4518213"/>
          <a:ext cx="4598894" cy="14595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644">
                  <a:extLst>
                    <a:ext uri="{9D8B030D-6E8A-4147-A177-3AD203B41FA5}">
                      <a16:colId xmlns:a16="http://schemas.microsoft.com/office/drawing/2014/main" val="3769006213"/>
                    </a:ext>
                  </a:extLst>
                </a:gridCol>
                <a:gridCol w="1901250">
                  <a:extLst>
                    <a:ext uri="{9D8B030D-6E8A-4147-A177-3AD203B41FA5}">
                      <a16:colId xmlns:a16="http://schemas.microsoft.com/office/drawing/2014/main" val="2217244172"/>
                    </a:ext>
                  </a:extLst>
                </a:gridCol>
              </a:tblGrid>
              <a:tr h="2957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Activity Level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Score Range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0723170"/>
                  </a:ext>
                </a:extLst>
              </a:tr>
              <a:tr h="2909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Highly Active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&gt; 400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885973"/>
                  </a:ext>
                </a:extLst>
              </a:tr>
              <a:tr h="2909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Moderately Active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201–400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0184044"/>
                  </a:ext>
                </a:extLst>
              </a:tr>
              <a:tr h="2909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Low Activity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1–200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086995"/>
                  </a:ext>
                </a:extLst>
              </a:tr>
              <a:tr h="2909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Inactive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30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50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6CDDCD-D878-B869-2013-DC72EC25142C}"/>
              </a:ext>
            </a:extLst>
          </p:cNvPr>
          <p:cNvSpPr txBox="1">
            <a:spLocks/>
          </p:cNvSpPr>
          <p:nvPr/>
        </p:nvSpPr>
        <p:spPr>
          <a:xfrm>
            <a:off x="2773599" y="3429000"/>
            <a:ext cx="7796540" cy="26209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found that there are 13 highly active users, 64 moderately active users ,10 low active users and 13 inactive users.</a:t>
            </a:r>
          </a:p>
          <a:p>
            <a:r>
              <a:rPr lang="en-US" dirty="0"/>
              <a:t>We can reward active users through incentives like badges, exclusive features, or even early access programs.</a:t>
            </a:r>
          </a:p>
          <a:p>
            <a:r>
              <a:rPr lang="en-US" dirty="0"/>
              <a:t>We can retarget inactive users with personalized content and suggestions.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75863C3-56CB-DABF-9E3D-DB1BA33D2D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1857396"/>
              </p:ext>
            </p:extLst>
          </p:nvPr>
        </p:nvGraphicFramePr>
        <p:xfrm>
          <a:off x="2773599" y="492648"/>
          <a:ext cx="7066265" cy="2664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3702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2D09-9259-6D36-FEE5-B997775BA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Hashtag Analysis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6785-9A3E-C775-C44F-378F62A82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50776"/>
            <a:ext cx="8825659" cy="3169024"/>
          </a:xfrm>
        </p:spPr>
        <p:txBody>
          <a:bodyPr>
            <a:normAutofit/>
          </a:bodyPr>
          <a:lstStyle/>
          <a:p>
            <a:r>
              <a:rPr lang="en-IN" dirty="0"/>
              <a:t>There are 21 hashtags in total that have been used by users.</a:t>
            </a:r>
          </a:p>
          <a:p>
            <a:r>
              <a:rPr lang="en-IN" dirty="0"/>
              <a:t>Used count function to determine the number of times each hashtag has been used in photos.</a:t>
            </a:r>
          </a:p>
          <a:p>
            <a:pPr lvl="0"/>
            <a:r>
              <a:rPr lang="en-US" dirty="0"/>
              <a:t>#smile hashtag is the highest used hashtag with usage in 59 photos.</a:t>
            </a:r>
          </a:p>
          <a:p>
            <a:r>
              <a:rPr lang="en-US" dirty="0"/>
              <a:t>It is followed by #beach, #party and #fun hashtags which are used in 42, 39 and 38 photos respectively.</a:t>
            </a:r>
          </a:p>
          <a:p>
            <a:r>
              <a:rPr lang="en-US" dirty="0"/>
              <a:t>We need to prioritize creating or boosting content that uses hashtags with proven engagement.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832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D48B08-FD06-924E-DC09-7015CCD612FE}"/>
              </a:ext>
            </a:extLst>
          </p:cNvPr>
          <p:cNvSpPr txBox="1">
            <a:spLocks/>
          </p:cNvSpPr>
          <p:nvPr/>
        </p:nvSpPr>
        <p:spPr>
          <a:xfrm>
            <a:off x="2375648" y="4688541"/>
            <a:ext cx="8194491" cy="136140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need to launch challenges, story templates, or reels using top hashtags.</a:t>
            </a:r>
          </a:p>
          <a:p>
            <a:r>
              <a:rPr lang="en-US" dirty="0"/>
              <a:t>We need to target audiences that frequently engage with top hashtags.</a:t>
            </a:r>
          </a:p>
          <a:p>
            <a:r>
              <a:rPr lang="en-US" dirty="0"/>
              <a:t>Run hashtag-specific ad-campaigns to boost discoverability.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D2A6104-7AE1-C269-81DB-4BABED5BCB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0358629"/>
              </p:ext>
            </p:extLst>
          </p:nvPr>
        </p:nvGraphicFramePr>
        <p:xfrm>
          <a:off x="2375648" y="681317"/>
          <a:ext cx="7924800" cy="3881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254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7191-B7FC-61FD-C2F4-A5322761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Influencer Identification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C1093-A70B-63E6-4432-B98BC80FF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22494"/>
            <a:ext cx="8825659" cy="3097306"/>
          </a:xfrm>
        </p:spPr>
        <p:txBody>
          <a:bodyPr>
            <a:normAutofit/>
          </a:bodyPr>
          <a:lstStyle/>
          <a:p>
            <a:r>
              <a:rPr lang="en-IN" dirty="0"/>
              <a:t>Social media influencers are vital for the growth of the platform.</a:t>
            </a:r>
          </a:p>
          <a:p>
            <a:r>
              <a:rPr lang="en-IN" dirty="0"/>
              <a:t>We have identified potential users who could be influencers.</a:t>
            </a:r>
          </a:p>
          <a:p>
            <a:r>
              <a:rPr lang="en-IN" dirty="0"/>
              <a:t>An influencer should have high followers and a high engagement rate.</a:t>
            </a:r>
          </a:p>
          <a:p>
            <a:r>
              <a:rPr lang="en-US" dirty="0"/>
              <a:t>Highly active users who consistently post and engage are ideal for community building or ambassador programs.</a:t>
            </a:r>
            <a:endParaRPr lang="en-IN" dirty="0"/>
          </a:p>
          <a:p>
            <a:r>
              <a:rPr lang="en-IN" dirty="0"/>
              <a:t>We identified 13 users who match our criteria.</a:t>
            </a:r>
          </a:p>
        </p:txBody>
      </p:sp>
    </p:spTree>
    <p:extLst>
      <p:ext uri="{BB962C8B-B14F-4D97-AF65-F5344CB8AC3E}">
        <p14:creationId xmlns:p14="http://schemas.microsoft.com/office/powerpoint/2010/main" val="1442168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04E8D898-9902-CE7A-0C9C-FE4F785496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743960"/>
              </p:ext>
            </p:extLst>
          </p:nvPr>
        </p:nvGraphicFramePr>
        <p:xfrm>
          <a:off x="1676400" y="718681"/>
          <a:ext cx="8292710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1078">
                  <a:extLst>
                    <a:ext uri="{9D8B030D-6E8A-4147-A177-3AD203B41FA5}">
                      <a16:colId xmlns:a16="http://schemas.microsoft.com/office/drawing/2014/main" val="891481028"/>
                    </a:ext>
                  </a:extLst>
                </a:gridCol>
                <a:gridCol w="1978308">
                  <a:extLst>
                    <a:ext uri="{9D8B030D-6E8A-4147-A177-3AD203B41FA5}">
                      <a16:colId xmlns:a16="http://schemas.microsoft.com/office/drawing/2014/main" val="2608146968"/>
                    </a:ext>
                  </a:extLst>
                </a:gridCol>
                <a:gridCol w="1847139">
                  <a:extLst>
                    <a:ext uri="{9D8B030D-6E8A-4147-A177-3AD203B41FA5}">
                      <a16:colId xmlns:a16="http://schemas.microsoft.com/office/drawing/2014/main" val="1397138254"/>
                    </a:ext>
                  </a:extLst>
                </a:gridCol>
                <a:gridCol w="1676185">
                  <a:extLst>
                    <a:ext uri="{9D8B030D-6E8A-4147-A177-3AD203B41FA5}">
                      <a16:colId xmlns:a16="http://schemas.microsoft.com/office/drawing/2014/main" val="1405741565"/>
                    </a:ext>
                  </a:extLst>
                </a:gridCol>
              </a:tblGrid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UserName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Followers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Activity_score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Activity_level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27683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Jaclyn81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488310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Rocio33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113775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Maxwell.Halvorson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709251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Ollie_Ledner37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908068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Mckenna17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08343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Duane60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269904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Julien_Schmidt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858622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Mike.Auer39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764742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Nia_Haag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080506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Leslie67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499587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Janelle.Nikolaus81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050328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Bethany20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65161"/>
                  </a:ext>
                </a:extLst>
              </a:tr>
              <a:tr h="3538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Aniya_Hackett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high 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93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47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969B10B0-C48F-4826-BD9F-8C7EC428433C}"/>
              </a:ext>
            </a:extLst>
          </p:cNvPr>
          <p:cNvSpPr txBox="1">
            <a:spLocks/>
          </p:cNvSpPr>
          <p:nvPr/>
        </p:nvSpPr>
        <p:spPr>
          <a:xfrm>
            <a:off x="1938338" y="1543050"/>
            <a:ext cx="7986342" cy="35861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They have 76 followers each and activity score of more than 1000 which comes under high activity.</a:t>
            </a:r>
          </a:p>
          <a:p>
            <a:r>
              <a:rPr lang="en-US" dirty="0"/>
              <a:t>We can approach the users/ influencers through DM or email and highlight what is in it for them (monetary, product gifts, visibility).</a:t>
            </a:r>
          </a:p>
          <a:p>
            <a:r>
              <a:rPr lang="en-US" dirty="0"/>
              <a:t>Campaigns could include sponsored content, giveaways, or product reviews, and I would track performance using promo codes or UTM links to measure ROI.</a:t>
            </a:r>
          </a:p>
        </p:txBody>
      </p:sp>
    </p:spTree>
    <p:extLst>
      <p:ext uri="{BB962C8B-B14F-4D97-AF65-F5344CB8AC3E}">
        <p14:creationId xmlns:p14="http://schemas.microsoft.com/office/powerpoint/2010/main" val="273820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B1C6-3122-C2F9-7E5E-30A5298D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Inactive Likers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E5570-3E3F-62E6-2FC9-8A8CA1EC1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958352"/>
            <a:ext cx="8825659" cy="3061447"/>
          </a:xfrm>
        </p:spPr>
        <p:txBody>
          <a:bodyPr>
            <a:normAutofit/>
          </a:bodyPr>
          <a:lstStyle/>
          <a:p>
            <a:r>
              <a:rPr lang="en-US" dirty="0"/>
              <a:t>Users who are not present in the likes table are the users who have never liked a post.</a:t>
            </a:r>
            <a:endParaRPr lang="en-IN" dirty="0"/>
          </a:p>
          <a:p>
            <a:r>
              <a:rPr lang="en-IN" dirty="0"/>
              <a:t>We found that there are 13 users who have never liked any post since they have joined our platform.</a:t>
            </a:r>
          </a:p>
          <a:p>
            <a:r>
              <a:rPr lang="en-IN" dirty="0"/>
              <a:t>This shows that their content recommendations are not up to their liking.</a:t>
            </a:r>
          </a:p>
          <a:p>
            <a:r>
              <a:rPr lang="en-IN" dirty="0"/>
              <a:t>We need to improve our algorithm so that the users get to interact with posts which they have interest 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88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9C31-884F-7C7C-D70C-A4E79F10B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 for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F580-EAAF-5E43-4594-BDC151CC3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834" y="2608729"/>
            <a:ext cx="8399931" cy="35039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Highly Active Users:</a:t>
            </a:r>
          </a:p>
          <a:p>
            <a:pPr lvl="1"/>
            <a:r>
              <a:rPr lang="en-US" dirty="0"/>
              <a:t>Reward with badges, exclusive features, or early access.</a:t>
            </a:r>
          </a:p>
          <a:p>
            <a:pPr lvl="1"/>
            <a:r>
              <a:rPr lang="en-US" dirty="0"/>
              <a:t>Offer discount codes, shoutouts, or leaderboard placement.</a:t>
            </a:r>
          </a:p>
          <a:p>
            <a:pPr marL="0" indent="0">
              <a:buNone/>
            </a:pPr>
            <a:r>
              <a:rPr lang="en-US" dirty="0"/>
              <a:t>Inactive Users (13 identified):</a:t>
            </a:r>
          </a:p>
          <a:p>
            <a:pPr lvl="1"/>
            <a:r>
              <a:rPr lang="en-US" dirty="0"/>
              <a:t>Send personalized email/push campaigns.</a:t>
            </a:r>
          </a:p>
          <a:p>
            <a:pPr lvl="1"/>
            <a:r>
              <a:rPr lang="en-US" dirty="0"/>
              <a:t>Recommend content based on past interests (hashtags, likes).</a:t>
            </a:r>
          </a:p>
          <a:p>
            <a:pPr lvl="1"/>
            <a:r>
              <a:rPr lang="en-US" dirty="0"/>
              <a:t>Highlight trending posts or creators.</a:t>
            </a:r>
          </a:p>
          <a:p>
            <a:pPr marL="0" indent="0">
              <a:buNone/>
            </a:pPr>
            <a:r>
              <a:rPr lang="en-US" dirty="0"/>
              <a:t>Hashtag Campaigns:</a:t>
            </a:r>
          </a:p>
          <a:p>
            <a:pPr lvl="1"/>
            <a:r>
              <a:rPr lang="en-US" dirty="0"/>
              <a:t>Boost content with high-engagement hashtags (#smile, #beach).</a:t>
            </a:r>
          </a:p>
          <a:p>
            <a:pPr lvl="1"/>
            <a:r>
              <a:rPr lang="en-US" dirty="0"/>
              <a:t>Launch challenges or reels using popular hashtags.</a:t>
            </a:r>
          </a:p>
        </p:txBody>
      </p:sp>
    </p:spTree>
    <p:extLst>
      <p:ext uri="{BB962C8B-B14F-4D97-AF65-F5344CB8AC3E}">
        <p14:creationId xmlns:p14="http://schemas.microsoft.com/office/powerpoint/2010/main" val="2379061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0E3A-FC0C-315F-907E-04BFF6E4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19E8-0B26-8EA0-4FCC-0C5576276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155575"/>
            <a:ext cx="9415185" cy="2160495"/>
          </a:xfrm>
        </p:spPr>
        <p:txBody>
          <a:bodyPr>
            <a:normAutofit/>
          </a:bodyPr>
          <a:lstStyle/>
          <a:p>
            <a:pPr marL="342900" lvl="1" indent="-342900"/>
            <a:r>
              <a:rPr lang="en-US" sz="1800" dirty="0"/>
              <a:t>No</a:t>
            </a:r>
            <a:r>
              <a:rPr lang="en-US" dirty="0"/>
              <a:t> </a:t>
            </a:r>
            <a:r>
              <a:rPr lang="en-US" sz="1800" dirty="0"/>
              <a:t>demographic</a:t>
            </a:r>
            <a:r>
              <a:rPr lang="en-US" dirty="0"/>
              <a:t> </a:t>
            </a:r>
            <a:r>
              <a:rPr lang="en-US" sz="1800" dirty="0"/>
              <a:t>data</a:t>
            </a:r>
            <a:r>
              <a:rPr lang="en-US" dirty="0"/>
              <a:t> (</a:t>
            </a:r>
            <a:r>
              <a:rPr lang="en-US" sz="1800" dirty="0"/>
              <a:t>age</a:t>
            </a:r>
            <a:r>
              <a:rPr lang="en-US" dirty="0"/>
              <a:t>, </a:t>
            </a:r>
            <a:r>
              <a:rPr lang="en-US" sz="1800" dirty="0"/>
              <a:t>gender</a:t>
            </a:r>
            <a:r>
              <a:rPr lang="en-US" dirty="0"/>
              <a:t>, </a:t>
            </a:r>
            <a:r>
              <a:rPr lang="en-US" sz="1800" dirty="0"/>
              <a:t>location</a:t>
            </a:r>
            <a:r>
              <a:rPr lang="en-US" dirty="0"/>
              <a:t>) </a:t>
            </a:r>
            <a:r>
              <a:rPr lang="en-US" sz="1800" dirty="0"/>
              <a:t>or</a:t>
            </a:r>
            <a:r>
              <a:rPr lang="en-US" dirty="0"/>
              <a:t> </a:t>
            </a:r>
            <a:r>
              <a:rPr lang="en-US" sz="1800" dirty="0"/>
              <a:t>posting</a:t>
            </a:r>
            <a:r>
              <a:rPr lang="en-US" dirty="0"/>
              <a:t> </a:t>
            </a:r>
            <a:r>
              <a:rPr lang="en-US" sz="1800" dirty="0"/>
              <a:t>time</a:t>
            </a:r>
            <a:r>
              <a:rPr lang="en-US" dirty="0"/>
              <a:t> </a:t>
            </a:r>
            <a:r>
              <a:rPr lang="en-US" sz="1800" dirty="0"/>
              <a:t>variability.</a:t>
            </a:r>
          </a:p>
          <a:p>
            <a:pPr marL="342900" lvl="1" indent="-342900"/>
            <a:r>
              <a:rPr lang="en-US" sz="1800" dirty="0"/>
              <a:t>Limited</a:t>
            </a:r>
            <a:r>
              <a:rPr lang="en-US" dirty="0"/>
              <a:t> </a:t>
            </a:r>
            <a:r>
              <a:rPr lang="en-US" sz="1800" dirty="0"/>
              <a:t>content</a:t>
            </a:r>
            <a:r>
              <a:rPr lang="en-US" dirty="0"/>
              <a:t> </a:t>
            </a:r>
            <a:r>
              <a:rPr lang="en-US" sz="1800" dirty="0"/>
              <a:t>type</a:t>
            </a:r>
            <a:r>
              <a:rPr lang="en-US" dirty="0"/>
              <a:t> </a:t>
            </a:r>
            <a:r>
              <a:rPr lang="en-US" sz="1800" dirty="0"/>
              <a:t>data</a:t>
            </a:r>
            <a:r>
              <a:rPr lang="en-US" dirty="0"/>
              <a:t> </a:t>
            </a:r>
            <a:r>
              <a:rPr lang="en-US" sz="1800" dirty="0"/>
              <a:t>(photos</a:t>
            </a:r>
            <a:r>
              <a:rPr lang="en-US" dirty="0"/>
              <a:t> </a:t>
            </a:r>
            <a:r>
              <a:rPr lang="en-US" sz="1800" dirty="0"/>
              <a:t>vs.</a:t>
            </a:r>
            <a:r>
              <a:rPr lang="en-US" dirty="0"/>
              <a:t> </a:t>
            </a:r>
            <a:r>
              <a:rPr lang="en-US" sz="1800" dirty="0"/>
              <a:t>videos/reels).</a:t>
            </a:r>
          </a:p>
          <a:p>
            <a:pPr marL="342900" lvl="1" indent="-342900"/>
            <a:r>
              <a:rPr lang="en-US" sz="1800" dirty="0"/>
              <a:t>No</a:t>
            </a:r>
            <a:r>
              <a:rPr lang="en-US" dirty="0"/>
              <a:t> </a:t>
            </a:r>
            <a:r>
              <a:rPr lang="en-US" sz="1800" dirty="0"/>
              <a:t>data</a:t>
            </a:r>
            <a:r>
              <a:rPr lang="en-US" dirty="0"/>
              <a:t> </a:t>
            </a:r>
            <a:r>
              <a:rPr lang="en-US" sz="1800" dirty="0"/>
              <a:t>on</a:t>
            </a:r>
            <a:r>
              <a:rPr lang="en-US" dirty="0"/>
              <a:t> </a:t>
            </a:r>
            <a:r>
              <a:rPr lang="en-US" sz="1800" dirty="0"/>
              <a:t>ad</a:t>
            </a:r>
            <a:r>
              <a:rPr lang="en-US" dirty="0"/>
              <a:t> </a:t>
            </a:r>
            <a:r>
              <a:rPr lang="en-US" sz="1800" dirty="0"/>
              <a:t>campaigns</a:t>
            </a:r>
            <a:r>
              <a:rPr lang="en-US" dirty="0"/>
              <a:t>(</a:t>
            </a:r>
            <a:r>
              <a:rPr lang="en-US" sz="1800" dirty="0"/>
              <a:t>impressions</a:t>
            </a:r>
            <a:r>
              <a:rPr lang="en-US" dirty="0"/>
              <a:t>, </a:t>
            </a:r>
            <a:r>
              <a:rPr lang="en-US" sz="1800" dirty="0"/>
              <a:t>clicks,</a:t>
            </a:r>
            <a:r>
              <a:rPr lang="en-US" dirty="0"/>
              <a:t> </a:t>
            </a:r>
            <a:r>
              <a:rPr lang="en-US" sz="1800" dirty="0"/>
              <a:t>conversions).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832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0D3A-9F7A-E52C-A009-83B78301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Opportunities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BD5DE-88C2-D4E4-B02F-D770A2AD7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092824"/>
            <a:ext cx="8825659" cy="2926976"/>
          </a:xfrm>
        </p:spPr>
        <p:txBody>
          <a:bodyPr/>
          <a:lstStyle/>
          <a:p>
            <a:pPr marL="342900" lvl="1" indent="-342900"/>
            <a:r>
              <a:rPr lang="en-US" sz="1800" dirty="0"/>
              <a:t>Collect</a:t>
            </a:r>
            <a:r>
              <a:rPr lang="en-US" dirty="0"/>
              <a:t> </a:t>
            </a:r>
            <a:r>
              <a:rPr lang="en-US" sz="1800" dirty="0"/>
              <a:t>demographic</a:t>
            </a:r>
            <a:r>
              <a:rPr lang="en-US" dirty="0"/>
              <a:t> </a:t>
            </a:r>
            <a:r>
              <a:rPr lang="en-US" sz="1800" dirty="0"/>
              <a:t>and</a:t>
            </a:r>
            <a:r>
              <a:rPr lang="en-US" dirty="0"/>
              <a:t> </a:t>
            </a:r>
            <a:r>
              <a:rPr lang="en-US" sz="1800" dirty="0"/>
              <a:t>timestamp</a:t>
            </a:r>
            <a:r>
              <a:rPr lang="en-US" dirty="0"/>
              <a:t> </a:t>
            </a:r>
            <a:r>
              <a:rPr lang="en-US" sz="1800" dirty="0"/>
              <a:t>data</a:t>
            </a:r>
            <a:r>
              <a:rPr lang="en-US" dirty="0"/>
              <a:t> </a:t>
            </a:r>
            <a:r>
              <a:rPr lang="en-US" sz="1800" dirty="0"/>
              <a:t>for</a:t>
            </a:r>
            <a:r>
              <a:rPr lang="en-US" dirty="0"/>
              <a:t> </a:t>
            </a:r>
            <a:r>
              <a:rPr lang="en-US" sz="1800" dirty="0"/>
              <a:t>deeper</a:t>
            </a:r>
            <a:r>
              <a:rPr lang="en-US" dirty="0"/>
              <a:t> </a:t>
            </a:r>
            <a:r>
              <a:rPr lang="en-US" sz="1800" dirty="0"/>
              <a:t>segmentation.</a:t>
            </a:r>
          </a:p>
          <a:p>
            <a:pPr marL="342900" lvl="1" indent="-342900"/>
            <a:r>
              <a:rPr lang="en-US" sz="1800" dirty="0"/>
              <a:t>Analyze</a:t>
            </a:r>
            <a:r>
              <a:rPr lang="en-US" dirty="0"/>
              <a:t> </a:t>
            </a:r>
            <a:r>
              <a:rPr lang="en-US" sz="1800" dirty="0"/>
              <a:t>video</a:t>
            </a:r>
            <a:r>
              <a:rPr lang="en-US" dirty="0"/>
              <a:t>/</a:t>
            </a:r>
            <a:r>
              <a:rPr lang="en-US" sz="1800" dirty="0"/>
              <a:t>reel</a:t>
            </a:r>
            <a:r>
              <a:rPr lang="en-US" dirty="0"/>
              <a:t> </a:t>
            </a:r>
            <a:r>
              <a:rPr lang="en-US" sz="1800" dirty="0"/>
              <a:t>engagement</a:t>
            </a:r>
            <a:r>
              <a:rPr lang="en-US" dirty="0"/>
              <a:t> </a:t>
            </a:r>
            <a:r>
              <a:rPr lang="en-US" sz="1800" dirty="0"/>
              <a:t>for</a:t>
            </a:r>
            <a:r>
              <a:rPr lang="en-US" dirty="0"/>
              <a:t> </a:t>
            </a:r>
            <a:r>
              <a:rPr lang="en-US" sz="1800" dirty="0"/>
              <a:t>content-specific</a:t>
            </a:r>
            <a:r>
              <a:rPr lang="en-US" dirty="0"/>
              <a:t> </a:t>
            </a:r>
            <a:r>
              <a:rPr lang="en-US" sz="1800" dirty="0"/>
              <a:t>strategies.</a:t>
            </a:r>
          </a:p>
          <a:p>
            <a:pPr marL="342900" lvl="1" indent="-342900"/>
            <a:r>
              <a:rPr lang="en-US" sz="1800" dirty="0"/>
              <a:t>Integrate</a:t>
            </a:r>
            <a:r>
              <a:rPr lang="en-US" dirty="0"/>
              <a:t> </a:t>
            </a:r>
            <a:r>
              <a:rPr lang="en-US" sz="1800" dirty="0"/>
              <a:t>ad</a:t>
            </a:r>
            <a:r>
              <a:rPr lang="en-US" dirty="0"/>
              <a:t> </a:t>
            </a:r>
            <a:r>
              <a:rPr lang="en-US" sz="1800" dirty="0"/>
              <a:t>campaign</a:t>
            </a:r>
            <a:r>
              <a:rPr lang="en-US" dirty="0"/>
              <a:t> </a:t>
            </a:r>
            <a:r>
              <a:rPr lang="en-US" sz="1800" dirty="0"/>
              <a:t>data</a:t>
            </a:r>
            <a:r>
              <a:rPr lang="en-US" dirty="0"/>
              <a:t> (</a:t>
            </a:r>
            <a:r>
              <a:rPr lang="en-US" sz="1800" dirty="0"/>
              <a:t>impressions,</a:t>
            </a:r>
            <a:r>
              <a:rPr lang="en-US" dirty="0"/>
              <a:t> </a:t>
            </a:r>
            <a:r>
              <a:rPr lang="en-US" sz="1800" dirty="0"/>
              <a:t>clicks</a:t>
            </a:r>
            <a:r>
              <a:rPr lang="en-US" dirty="0"/>
              <a:t>) </a:t>
            </a:r>
            <a:r>
              <a:rPr lang="en-US" sz="1800" dirty="0"/>
              <a:t>for</a:t>
            </a:r>
            <a:r>
              <a:rPr lang="en-US" dirty="0"/>
              <a:t> </a:t>
            </a:r>
            <a:r>
              <a:rPr lang="en-US" sz="1800" dirty="0"/>
              <a:t>ROI</a:t>
            </a:r>
            <a:r>
              <a:rPr lang="en-US" dirty="0"/>
              <a:t> </a:t>
            </a:r>
            <a:r>
              <a:rPr lang="en-US" sz="1800" dirty="0"/>
              <a:t>analysis.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59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49D8B-1B07-758F-9097-1F82E545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267F-810E-1BFE-95E6-6FC96E731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86635"/>
            <a:ext cx="8825659" cy="3133164"/>
          </a:xfrm>
        </p:spPr>
        <p:txBody>
          <a:bodyPr>
            <a:normAutofit/>
          </a:bodyPr>
          <a:lstStyle/>
          <a:p>
            <a:r>
              <a:rPr lang="en-US" dirty="0"/>
              <a:t>Implement reward programs for highly active users.</a:t>
            </a:r>
          </a:p>
          <a:p>
            <a:r>
              <a:rPr lang="en-US" dirty="0"/>
              <a:t>Launch re-engagement campaigns for inactive users.</a:t>
            </a:r>
          </a:p>
          <a:p>
            <a:r>
              <a:rPr lang="en-US" dirty="0"/>
              <a:t>Initiate hashtag-based ad campaigns (#smile, #beach).</a:t>
            </a:r>
          </a:p>
          <a:p>
            <a:r>
              <a:rPr lang="en-US" dirty="0"/>
              <a:t>Partner with identified influencers for pilot campaigns.</a:t>
            </a:r>
          </a:p>
          <a:p>
            <a:r>
              <a:rPr lang="en-US" dirty="0"/>
              <a:t>Enhance dataset with demographic and ad performance data.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02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794A-0CE4-2E9D-71CE-640C687AD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047" y="2832847"/>
            <a:ext cx="8214565" cy="1201271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257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238</TotalTime>
  <Words>913</Words>
  <Application>Microsoft Office PowerPoint</Application>
  <PresentationFormat>Widescreen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Ion Boardroom</vt:lpstr>
      <vt:lpstr>SQL: Social Media Project</vt:lpstr>
      <vt:lpstr>Introduction &amp; Problem Statement</vt:lpstr>
      <vt:lpstr>Data Overview</vt:lpstr>
      <vt:lpstr>Database Schema</vt:lpstr>
      <vt:lpstr>Analytical Methods</vt:lpstr>
      <vt:lpstr>User Activity Insights</vt:lpstr>
      <vt:lpstr>PowerPoint Presentation</vt:lpstr>
      <vt:lpstr>Hashtag Analysis</vt:lpstr>
      <vt:lpstr>PowerPoint Presentation</vt:lpstr>
      <vt:lpstr>Influencer Identification</vt:lpstr>
      <vt:lpstr>PowerPoint Presentation</vt:lpstr>
      <vt:lpstr>PowerPoint Presentation</vt:lpstr>
      <vt:lpstr>Inactive Likers</vt:lpstr>
      <vt:lpstr>Recommendations for Engagement</vt:lpstr>
      <vt:lpstr>Limitations</vt:lpstr>
      <vt:lpstr>Opportunities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Y</dc:creator>
  <cp:lastModifiedBy>THODE ROHITH</cp:lastModifiedBy>
  <cp:revision>4</cp:revision>
  <dcterms:created xsi:type="dcterms:W3CDTF">2025-07-31T09:59:07Z</dcterms:created>
  <dcterms:modified xsi:type="dcterms:W3CDTF">2025-12-16T07:51:19Z</dcterms:modified>
</cp:coreProperties>
</file>